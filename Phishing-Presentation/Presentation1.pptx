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F5D25-ECDD-469E-B835-A789E8D613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66F2C7-9890-4BC6-90BD-BD44559EC2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F0D28B-C293-41DF-B3C9-A24C7463FD5C}"/>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5" name="Footer Placeholder 4">
            <a:extLst>
              <a:ext uri="{FF2B5EF4-FFF2-40B4-BE49-F238E27FC236}">
                <a16:creationId xmlns:a16="http://schemas.microsoft.com/office/drawing/2014/main" id="{3571BD08-2AC4-4A0A-A606-171F9937BE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34A5D3-E0A2-4BC1-9DB9-470FA36693AC}"/>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704312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ECF57-BEB6-4FDA-B0E3-2499764685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F101A-A9AC-4871-933C-E6DAA9884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F921C2-C9FE-4EC2-9FE9-FDBCC9DFB5DD}"/>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5" name="Footer Placeholder 4">
            <a:extLst>
              <a:ext uri="{FF2B5EF4-FFF2-40B4-BE49-F238E27FC236}">
                <a16:creationId xmlns:a16="http://schemas.microsoft.com/office/drawing/2014/main" id="{3DA98591-A480-40F7-8C55-59DD65BC94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C8A6B-6848-45B6-AEE6-817B3484A332}"/>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2915924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E47CB-6643-4208-A6C3-FD65A13ED0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DC761E-6EE5-4CB8-B9F9-DCD11FD14A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3027AA-DC53-4A7A-B72B-0AC102469666}"/>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5" name="Footer Placeholder 4">
            <a:extLst>
              <a:ext uri="{FF2B5EF4-FFF2-40B4-BE49-F238E27FC236}">
                <a16:creationId xmlns:a16="http://schemas.microsoft.com/office/drawing/2014/main" id="{4BFF8587-3975-4A4C-AA9F-7BFA6181F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8FDD1E-BC08-4F8E-95D5-A6F8E2518907}"/>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1050891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0BC16-FFB3-4A85-945B-91696722C6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8F8FF8-2224-4EF8-8B7C-3FE46A2923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2ADBA9-8ADF-45B8-8B28-201CFB34C5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74BB24-D22F-4CB6-9E22-92E42CD619D2}"/>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6" name="Footer Placeholder 5">
            <a:extLst>
              <a:ext uri="{FF2B5EF4-FFF2-40B4-BE49-F238E27FC236}">
                <a16:creationId xmlns:a16="http://schemas.microsoft.com/office/drawing/2014/main" id="{16C481FE-1578-433A-99EC-CD379B17B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123B6-BF9A-4EF0-B3FA-A561D84C7C01}"/>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2754510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C023F-58E9-4196-96D4-212AB983FF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056F19-F450-43A0-8F23-2E62EFABDA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ABC937-E050-4107-8507-11EDAABC8B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776D9A-AB28-4C22-B01E-F7C2FE2870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565F77-5DA0-4CBA-8778-388901A5CE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A3FEDC-3492-471A-BCA6-3504F1DBF7D0}"/>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8" name="Footer Placeholder 7">
            <a:extLst>
              <a:ext uri="{FF2B5EF4-FFF2-40B4-BE49-F238E27FC236}">
                <a16:creationId xmlns:a16="http://schemas.microsoft.com/office/drawing/2014/main" id="{2B110931-D704-4D42-A8AA-AC0A62160E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86F26E-4D58-4C97-AC49-4312698D689A}"/>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1908037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2883E-8BC9-405D-BB20-CB31B8FAB4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84C8C7-D817-499F-BAF1-014C1A2567DF}"/>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4" name="Footer Placeholder 3">
            <a:extLst>
              <a:ext uri="{FF2B5EF4-FFF2-40B4-BE49-F238E27FC236}">
                <a16:creationId xmlns:a16="http://schemas.microsoft.com/office/drawing/2014/main" id="{1AC5E967-FF13-44DA-A16F-2AEE446B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4008E4-9F44-41AD-9D62-374561D638E3}"/>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2476510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F37B24-F1C1-4ADC-A885-80DAE7B2D354}"/>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3" name="Footer Placeholder 2">
            <a:extLst>
              <a:ext uri="{FF2B5EF4-FFF2-40B4-BE49-F238E27FC236}">
                <a16:creationId xmlns:a16="http://schemas.microsoft.com/office/drawing/2014/main" id="{86AF2A46-5DEF-47F7-96A5-EAD1D429E7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3CFFBC-D2CC-4499-A9F7-6D14F10A45E9}"/>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654328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EF0C9-8271-4761-8FBD-5F67B5678B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69B005-8A92-422A-BC76-0655996316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18E062-8F68-4C3F-A5D7-407F7242F4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16E577-6961-4745-AC89-AE04E19E5130}"/>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6" name="Footer Placeholder 5">
            <a:extLst>
              <a:ext uri="{FF2B5EF4-FFF2-40B4-BE49-F238E27FC236}">
                <a16:creationId xmlns:a16="http://schemas.microsoft.com/office/drawing/2014/main" id="{6A42B323-9C41-4896-88DC-D645F931E5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8B0FF8-1E0A-4931-B854-E7FC6ACA075C}"/>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1100028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EB1BF-9D52-4D9E-AE3A-72BED9D656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7EB65B-ACEE-4AA2-9F85-62AC76E395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22FB9F-FA80-414D-A6F2-5DD945E66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DCD24C-D336-4165-987D-E3C4E86D8986}"/>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6" name="Footer Placeholder 5">
            <a:extLst>
              <a:ext uri="{FF2B5EF4-FFF2-40B4-BE49-F238E27FC236}">
                <a16:creationId xmlns:a16="http://schemas.microsoft.com/office/drawing/2014/main" id="{D680D264-CF4F-47A2-80FC-5A9B054B7B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14B092-7E1A-4FB6-8215-1463E4860AD7}"/>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124891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FB83C-5BA5-4543-B1B2-2D5A33934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FC4205-0098-4944-B137-521408BD54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62A8D-E038-40CB-BDA7-91E971C25AB0}"/>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5" name="Footer Placeholder 4">
            <a:extLst>
              <a:ext uri="{FF2B5EF4-FFF2-40B4-BE49-F238E27FC236}">
                <a16:creationId xmlns:a16="http://schemas.microsoft.com/office/drawing/2014/main" id="{E9C51ADF-FFE5-494C-A4F3-B4B9BC2B8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47449-F69E-4A4C-8B3D-96D9BC5C2E74}"/>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2355864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288068-4A7B-4424-AF60-3D3E705487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E0180A-001D-4F4F-9323-32703F5702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FE4C72-D384-40F4-87CF-5E589A4D7CFC}"/>
              </a:ext>
            </a:extLst>
          </p:cNvPr>
          <p:cNvSpPr>
            <a:spLocks noGrp="1"/>
          </p:cNvSpPr>
          <p:nvPr>
            <p:ph type="dt" sz="half" idx="10"/>
          </p:nvPr>
        </p:nvSpPr>
        <p:spPr/>
        <p:txBody>
          <a:bodyPr/>
          <a:lstStyle/>
          <a:p>
            <a:fld id="{3D1E46E3-9987-470E-981F-03CA0B7A7B16}" type="datetimeFigureOut">
              <a:rPr lang="en-US" smtClean="0"/>
              <a:t>10/29/2026</a:t>
            </a:fld>
            <a:endParaRPr lang="en-US"/>
          </a:p>
        </p:txBody>
      </p:sp>
      <p:sp>
        <p:nvSpPr>
          <p:cNvPr id="5" name="Footer Placeholder 4">
            <a:extLst>
              <a:ext uri="{FF2B5EF4-FFF2-40B4-BE49-F238E27FC236}">
                <a16:creationId xmlns:a16="http://schemas.microsoft.com/office/drawing/2014/main" id="{0239FAA5-F8E4-4F55-A4B8-120A352C3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499782-9904-4285-8E9A-D2995BE05A22}"/>
              </a:ext>
            </a:extLst>
          </p:cNvPr>
          <p:cNvSpPr>
            <a:spLocks noGrp="1"/>
          </p:cNvSpPr>
          <p:nvPr>
            <p:ph type="sldNum" sz="quarter" idx="12"/>
          </p:nvPr>
        </p:nvSpPr>
        <p:spPr/>
        <p:txBody>
          <a:bodyPr/>
          <a:lstStyle/>
          <a:p>
            <a:fld id="{2AFCDCC9-502D-4445-8130-E64F17069E83}" type="slidenum">
              <a:rPr lang="en-US" smtClean="0"/>
              <a:t>‹#›</a:t>
            </a:fld>
            <a:endParaRPr lang="en-US"/>
          </a:p>
        </p:txBody>
      </p:sp>
    </p:spTree>
    <p:extLst>
      <p:ext uri="{BB962C8B-B14F-4D97-AF65-F5344CB8AC3E}">
        <p14:creationId xmlns:p14="http://schemas.microsoft.com/office/powerpoint/2010/main" val="2863099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AE516C-9980-4EE6-A4A3-CECDF6D5D3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0FDAAD-0579-45FF-8ED7-D654F4E919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1F0A93-49DD-4D6F-AA87-C4AEC24A6B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1E46E3-9987-470E-981F-03CA0B7A7B16}" type="datetimeFigureOut">
              <a:rPr lang="en-US" smtClean="0"/>
              <a:t>10/29/2026</a:t>
            </a:fld>
            <a:endParaRPr lang="en-US"/>
          </a:p>
        </p:txBody>
      </p:sp>
      <p:sp>
        <p:nvSpPr>
          <p:cNvPr id="5" name="Footer Placeholder 4">
            <a:extLst>
              <a:ext uri="{FF2B5EF4-FFF2-40B4-BE49-F238E27FC236}">
                <a16:creationId xmlns:a16="http://schemas.microsoft.com/office/drawing/2014/main" id="{1D38ED62-8C09-4DCA-9B1E-CFDD617B81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EC0AEE-6C9B-488D-BDED-255390C214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FCDCC9-502D-4445-8130-E64F17069E83}" type="slidenum">
              <a:rPr lang="en-US" smtClean="0"/>
              <a:t>‹#›</a:t>
            </a:fld>
            <a:endParaRPr lang="en-US"/>
          </a:p>
        </p:txBody>
      </p:sp>
    </p:spTree>
    <p:extLst>
      <p:ext uri="{BB962C8B-B14F-4D97-AF65-F5344CB8AC3E}">
        <p14:creationId xmlns:p14="http://schemas.microsoft.com/office/powerpoint/2010/main" val="3112947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3F9BC7C-CE72-4464-9003-E56551F24AA7}"/>
              </a:ext>
            </a:extLst>
          </p:cNvPr>
          <p:cNvSpPr/>
          <p:nvPr/>
        </p:nvSpPr>
        <p:spPr>
          <a:xfrm>
            <a:off x="170329" y="1711144"/>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Phishing</a:t>
            </a:r>
          </a:p>
        </p:txBody>
      </p:sp>
      <p:sp>
        <p:nvSpPr>
          <p:cNvPr id="20" name="Rectangle: Rounded Corners 19">
            <a:extLst>
              <a:ext uri="{FF2B5EF4-FFF2-40B4-BE49-F238E27FC236}">
                <a16:creationId xmlns:a16="http://schemas.microsoft.com/office/drawing/2014/main" id="{4AE45D9E-9DDB-4038-A426-1693FF655152}"/>
              </a:ext>
            </a:extLst>
          </p:cNvPr>
          <p:cNvSpPr/>
          <p:nvPr/>
        </p:nvSpPr>
        <p:spPr>
          <a:xfrm>
            <a:off x="170329" y="294491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Social-Engineering</a:t>
            </a:r>
          </a:p>
        </p:txBody>
      </p:sp>
      <p:sp>
        <p:nvSpPr>
          <p:cNvPr id="21" name="Rectangle: Rounded Corners 20">
            <a:extLst>
              <a:ext uri="{FF2B5EF4-FFF2-40B4-BE49-F238E27FC236}">
                <a16:creationId xmlns:a16="http://schemas.microsoft.com/office/drawing/2014/main" id="{54458019-D428-45A6-BA3E-5D49503493A7}"/>
              </a:ext>
            </a:extLst>
          </p:cNvPr>
          <p:cNvSpPr/>
          <p:nvPr/>
        </p:nvSpPr>
        <p:spPr>
          <a:xfrm>
            <a:off x="170329" y="526683"/>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Introduction</a:t>
            </a:r>
          </a:p>
        </p:txBody>
      </p:sp>
      <p:sp>
        <p:nvSpPr>
          <p:cNvPr id="22" name="Rectangle: Rounded Corners 21">
            <a:extLst>
              <a:ext uri="{FF2B5EF4-FFF2-40B4-BE49-F238E27FC236}">
                <a16:creationId xmlns:a16="http://schemas.microsoft.com/office/drawing/2014/main" id="{39C0679B-3FFA-478D-9BE1-9BA3728EB0B0}"/>
              </a:ext>
            </a:extLst>
          </p:cNvPr>
          <p:cNvSpPr/>
          <p:nvPr/>
        </p:nvSpPr>
        <p:spPr>
          <a:xfrm>
            <a:off x="170329" y="4143936"/>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Practices</a:t>
            </a:r>
          </a:p>
        </p:txBody>
      </p:sp>
      <p:sp>
        <p:nvSpPr>
          <p:cNvPr id="23" name="Rectangle: Rounded Corners 22">
            <a:extLst>
              <a:ext uri="{FF2B5EF4-FFF2-40B4-BE49-F238E27FC236}">
                <a16:creationId xmlns:a16="http://schemas.microsoft.com/office/drawing/2014/main" id="{3D962F3C-5431-42FC-BF8C-F96BE3328ED9}"/>
              </a:ext>
            </a:extLst>
          </p:cNvPr>
          <p:cNvSpPr/>
          <p:nvPr/>
        </p:nvSpPr>
        <p:spPr>
          <a:xfrm>
            <a:off x="170329" y="5365375"/>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Examples</a:t>
            </a:r>
          </a:p>
        </p:txBody>
      </p:sp>
      <p:sp>
        <p:nvSpPr>
          <p:cNvPr id="10" name="Rectangle: Rounded Corners 9">
            <a:extLst>
              <a:ext uri="{FF2B5EF4-FFF2-40B4-BE49-F238E27FC236}">
                <a16:creationId xmlns:a16="http://schemas.microsoft.com/office/drawing/2014/main" id="{A1956CF4-0A28-4D06-A2A7-3AAB484D4931}"/>
              </a:ext>
            </a:extLst>
          </p:cNvPr>
          <p:cNvSpPr/>
          <p:nvPr/>
        </p:nvSpPr>
        <p:spPr>
          <a:xfrm>
            <a:off x="170329" y="5365374"/>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847974E-7DAD-4B3C-BF99-AC84353F68FA}"/>
              </a:ext>
            </a:extLst>
          </p:cNvPr>
          <p:cNvSpPr/>
          <p:nvPr/>
        </p:nvSpPr>
        <p:spPr>
          <a:xfrm>
            <a:off x="170329" y="4143936"/>
            <a:ext cx="3509682" cy="9009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75A4D2DB-C388-4AE7-96E3-11642E74F5F3}"/>
              </a:ext>
            </a:extLst>
          </p:cNvPr>
          <p:cNvSpPr/>
          <p:nvPr/>
        </p:nvSpPr>
        <p:spPr>
          <a:xfrm>
            <a:off x="170329" y="2944912"/>
            <a:ext cx="3509682" cy="914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F2868E3-F526-4B66-A922-D5C2F035D5B2}"/>
              </a:ext>
            </a:extLst>
          </p:cNvPr>
          <p:cNvSpPr/>
          <p:nvPr/>
        </p:nvSpPr>
        <p:spPr>
          <a:xfrm>
            <a:off x="170329" y="1667440"/>
            <a:ext cx="3509682" cy="9368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6A58EAB-BE55-4CE0-A1B7-14882C340BF4}"/>
              </a:ext>
            </a:extLst>
          </p:cNvPr>
          <p:cNvSpPr/>
          <p:nvPr/>
        </p:nvSpPr>
        <p:spPr>
          <a:xfrm>
            <a:off x="3106271" y="273423"/>
            <a:ext cx="8915400" cy="6311154"/>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15ED846B-7E0C-4F0E-841B-72EC2AF6DC11}"/>
              </a:ext>
            </a:extLst>
          </p:cNvPr>
          <p:cNvSpPr/>
          <p:nvPr/>
        </p:nvSpPr>
        <p:spPr>
          <a:xfrm>
            <a:off x="3276601" y="614084"/>
            <a:ext cx="5804647" cy="26490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Social-engineering is all about attackers manipulating our emotions such as greed, romance, urgency, authority, curiosity and surprise to gain our credentials.</a:t>
            </a:r>
          </a:p>
        </p:txBody>
      </p:sp>
      <p:sp>
        <p:nvSpPr>
          <p:cNvPr id="3" name="Rectangle: Rounded Corners 2">
            <a:extLst>
              <a:ext uri="{FF2B5EF4-FFF2-40B4-BE49-F238E27FC236}">
                <a16:creationId xmlns:a16="http://schemas.microsoft.com/office/drawing/2014/main" id="{F43E1765-B52B-4143-9FED-0583853A603D}"/>
              </a:ext>
            </a:extLst>
          </p:cNvPr>
          <p:cNvSpPr/>
          <p:nvPr/>
        </p:nvSpPr>
        <p:spPr>
          <a:xfrm>
            <a:off x="3576918" y="3529851"/>
            <a:ext cx="4383741" cy="25683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In most phishing attack, attackers usually present to victim a link or attachment that looks like a valid until victim clicks, it is nothing but valid.</a:t>
            </a:r>
          </a:p>
        </p:txBody>
      </p:sp>
      <p:sp>
        <p:nvSpPr>
          <p:cNvPr id="8" name="Rectangle: Rounded Corners 7">
            <a:extLst>
              <a:ext uri="{FF2B5EF4-FFF2-40B4-BE49-F238E27FC236}">
                <a16:creationId xmlns:a16="http://schemas.microsoft.com/office/drawing/2014/main" id="{3EFA3677-E403-4396-9C7A-6671A9191874}"/>
              </a:ext>
            </a:extLst>
          </p:cNvPr>
          <p:cNvSpPr/>
          <p:nvPr/>
        </p:nvSpPr>
        <p:spPr>
          <a:xfrm>
            <a:off x="8156763" y="3603811"/>
            <a:ext cx="3636308" cy="25314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The most famous phishing emails are fake lottery emails from unknown accounts.</a:t>
            </a:r>
          </a:p>
        </p:txBody>
      </p:sp>
      <p:pic>
        <p:nvPicPr>
          <p:cNvPr id="18" name="Picture 17">
            <a:extLst>
              <a:ext uri="{FF2B5EF4-FFF2-40B4-BE49-F238E27FC236}">
                <a16:creationId xmlns:a16="http://schemas.microsoft.com/office/drawing/2014/main" id="{1FA31F2D-2444-43D4-88A6-77C52553A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1713" y="2203088"/>
            <a:ext cx="2299492" cy="1230393"/>
          </a:xfrm>
          <a:prstGeom prst="rect">
            <a:avLst/>
          </a:prstGeom>
        </p:spPr>
      </p:pic>
    </p:spTree>
    <p:extLst>
      <p:ext uri="{BB962C8B-B14F-4D97-AF65-F5344CB8AC3E}">
        <p14:creationId xmlns:p14="http://schemas.microsoft.com/office/powerpoint/2010/main" val="426040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 grpId="0" animBg="1"/>
      <p:bldP spid="3"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3F9BC7C-CE72-4464-9003-E56551F24AA7}"/>
              </a:ext>
            </a:extLst>
          </p:cNvPr>
          <p:cNvSpPr/>
          <p:nvPr/>
        </p:nvSpPr>
        <p:spPr>
          <a:xfrm>
            <a:off x="170329" y="1797439"/>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Phishing</a:t>
            </a:r>
          </a:p>
        </p:txBody>
      </p:sp>
      <p:sp>
        <p:nvSpPr>
          <p:cNvPr id="20" name="Rectangle: Rounded Corners 19">
            <a:extLst>
              <a:ext uri="{FF2B5EF4-FFF2-40B4-BE49-F238E27FC236}">
                <a16:creationId xmlns:a16="http://schemas.microsoft.com/office/drawing/2014/main" id="{4AE45D9E-9DDB-4038-A426-1693FF655152}"/>
              </a:ext>
            </a:extLst>
          </p:cNvPr>
          <p:cNvSpPr/>
          <p:nvPr/>
        </p:nvSpPr>
        <p:spPr>
          <a:xfrm>
            <a:off x="170329" y="294491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Social-Engineering</a:t>
            </a:r>
          </a:p>
        </p:txBody>
      </p:sp>
      <p:sp>
        <p:nvSpPr>
          <p:cNvPr id="21" name="Rectangle: Rounded Corners 20">
            <a:extLst>
              <a:ext uri="{FF2B5EF4-FFF2-40B4-BE49-F238E27FC236}">
                <a16:creationId xmlns:a16="http://schemas.microsoft.com/office/drawing/2014/main" id="{54458019-D428-45A6-BA3E-5D49503493A7}"/>
              </a:ext>
            </a:extLst>
          </p:cNvPr>
          <p:cNvSpPr/>
          <p:nvPr/>
        </p:nvSpPr>
        <p:spPr>
          <a:xfrm>
            <a:off x="170329" y="710453"/>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Introduction</a:t>
            </a:r>
          </a:p>
        </p:txBody>
      </p:sp>
      <p:sp>
        <p:nvSpPr>
          <p:cNvPr id="22" name="Rectangle: Rounded Corners 21">
            <a:extLst>
              <a:ext uri="{FF2B5EF4-FFF2-40B4-BE49-F238E27FC236}">
                <a16:creationId xmlns:a16="http://schemas.microsoft.com/office/drawing/2014/main" id="{39C0679B-3FFA-478D-9BE1-9BA3728EB0B0}"/>
              </a:ext>
            </a:extLst>
          </p:cNvPr>
          <p:cNvSpPr/>
          <p:nvPr/>
        </p:nvSpPr>
        <p:spPr>
          <a:xfrm>
            <a:off x="170329" y="4143936"/>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Practices</a:t>
            </a:r>
          </a:p>
        </p:txBody>
      </p:sp>
      <p:sp>
        <p:nvSpPr>
          <p:cNvPr id="23" name="Rectangle: Rounded Corners 22">
            <a:extLst>
              <a:ext uri="{FF2B5EF4-FFF2-40B4-BE49-F238E27FC236}">
                <a16:creationId xmlns:a16="http://schemas.microsoft.com/office/drawing/2014/main" id="{3D962F3C-5431-42FC-BF8C-F96BE3328ED9}"/>
              </a:ext>
            </a:extLst>
          </p:cNvPr>
          <p:cNvSpPr/>
          <p:nvPr/>
        </p:nvSpPr>
        <p:spPr>
          <a:xfrm>
            <a:off x="170329" y="5365375"/>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Examples</a:t>
            </a:r>
          </a:p>
        </p:txBody>
      </p:sp>
      <p:sp>
        <p:nvSpPr>
          <p:cNvPr id="24" name="Rectangle: Rounded Corners 23">
            <a:extLst>
              <a:ext uri="{FF2B5EF4-FFF2-40B4-BE49-F238E27FC236}">
                <a16:creationId xmlns:a16="http://schemas.microsoft.com/office/drawing/2014/main" id="{36151C61-DD32-49A6-9CF8-DD08F123D6A4}"/>
              </a:ext>
            </a:extLst>
          </p:cNvPr>
          <p:cNvSpPr/>
          <p:nvPr/>
        </p:nvSpPr>
        <p:spPr>
          <a:xfrm>
            <a:off x="170329" y="5342960"/>
            <a:ext cx="3509682" cy="9009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38567C7D-43C7-4F40-829B-291AC80DFD6F}"/>
              </a:ext>
            </a:extLst>
          </p:cNvPr>
          <p:cNvSpPr/>
          <p:nvPr/>
        </p:nvSpPr>
        <p:spPr>
          <a:xfrm>
            <a:off x="170329" y="4121521"/>
            <a:ext cx="3509682" cy="9009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BD36C1D3-B985-4CB4-9760-F1B6A92F7DCA}"/>
              </a:ext>
            </a:extLst>
          </p:cNvPr>
          <p:cNvSpPr/>
          <p:nvPr/>
        </p:nvSpPr>
        <p:spPr>
          <a:xfrm>
            <a:off x="170329" y="2944912"/>
            <a:ext cx="3509682" cy="9009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81349339-04DE-4FCF-B351-DC9CAC4C4EDA}"/>
              </a:ext>
            </a:extLst>
          </p:cNvPr>
          <p:cNvSpPr/>
          <p:nvPr/>
        </p:nvSpPr>
        <p:spPr>
          <a:xfrm>
            <a:off x="170329" y="688038"/>
            <a:ext cx="3509682" cy="9009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96A58EAB-BE55-4CE0-A1B7-14882C340BF4}"/>
              </a:ext>
            </a:extLst>
          </p:cNvPr>
          <p:cNvSpPr/>
          <p:nvPr/>
        </p:nvSpPr>
        <p:spPr>
          <a:xfrm>
            <a:off x="3106271" y="273423"/>
            <a:ext cx="8915400" cy="6311154"/>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8" name="Rectangle: Rounded Corners 37">
            <a:extLst>
              <a:ext uri="{FF2B5EF4-FFF2-40B4-BE49-F238E27FC236}">
                <a16:creationId xmlns:a16="http://schemas.microsoft.com/office/drawing/2014/main" id="{599BB97B-EB59-4C95-909C-D1A39A4B8A84}"/>
              </a:ext>
            </a:extLst>
          </p:cNvPr>
          <p:cNvSpPr/>
          <p:nvPr/>
        </p:nvSpPr>
        <p:spPr>
          <a:xfrm>
            <a:off x="3451411" y="605127"/>
            <a:ext cx="7180729" cy="22456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 </a:t>
            </a:r>
            <a:r>
              <a:rPr lang="en-US" sz="2800" b="1" dirty="0">
                <a:solidFill>
                  <a:schemeClr val="tx1"/>
                </a:solidFill>
              </a:rPr>
              <a:t>Phishing is a form of social engineering used by the attackers to manipulate the victim to gain their login credentials and information.</a:t>
            </a:r>
            <a:endParaRPr lang="en-US" sz="2400" b="1" dirty="0">
              <a:solidFill>
                <a:schemeClr val="tx1"/>
              </a:solidFill>
            </a:endParaRPr>
          </a:p>
        </p:txBody>
      </p:sp>
      <p:sp>
        <p:nvSpPr>
          <p:cNvPr id="39" name="Rectangle: Rounded Corners 38">
            <a:extLst>
              <a:ext uri="{FF2B5EF4-FFF2-40B4-BE49-F238E27FC236}">
                <a16:creationId xmlns:a16="http://schemas.microsoft.com/office/drawing/2014/main" id="{A7417950-9F69-4E3D-9BF3-BA1DEA5FFF80}"/>
              </a:ext>
            </a:extLst>
          </p:cNvPr>
          <p:cNvSpPr/>
          <p:nvPr/>
        </p:nvSpPr>
        <p:spPr>
          <a:xfrm>
            <a:off x="3451411" y="3105147"/>
            <a:ext cx="4724401" cy="30973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The attackers usually manipulate target elderly people or people who don’t have any information security knowledge</a:t>
            </a:r>
          </a:p>
        </p:txBody>
      </p:sp>
      <p:sp>
        <p:nvSpPr>
          <p:cNvPr id="40" name="Rectangle: Rounded Corners 39">
            <a:extLst>
              <a:ext uri="{FF2B5EF4-FFF2-40B4-BE49-F238E27FC236}">
                <a16:creationId xmlns:a16="http://schemas.microsoft.com/office/drawing/2014/main" id="{0B1A7833-62BD-4B63-B05C-4AB59994C60C}"/>
              </a:ext>
            </a:extLst>
          </p:cNvPr>
          <p:cNvSpPr/>
          <p:nvPr/>
        </p:nvSpPr>
        <p:spPr>
          <a:xfrm>
            <a:off x="8520952" y="3182496"/>
            <a:ext cx="2998694" cy="30973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This presentation is about phishing attacks and other social engineering techniques.</a:t>
            </a:r>
          </a:p>
        </p:txBody>
      </p:sp>
      <p:pic>
        <p:nvPicPr>
          <p:cNvPr id="42" name="Picture 41">
            <a:extLst>
              <a:ext uri="{FF2B5EF4-FFF2-40B4-BE49-F238E27FC236}">
                <a16:creationId xmlns:a16="http://schemas.microsoft.com/office/drawing/2014/main" id="{A3200533-A579-4B16-B470-CD14D713AF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9716" y="2335343"/>
            <a:ext cx="1014379" cy="900957"/>
          </a:xfrm>
          <a:prstGeom prst="rect">
            <a:avLst/>
          </a:prstGeom>
        </p:spPr>
      </p:pic>
    </p:spTree>
    <p:extLst>
      <p:ext uri="{BB962C8B-B14F-4D97-AF65-F5344CB8AC3E}">
        <p14:creationId xmlns:p14="http://schemas.microsoft.com/office/powerpoint/2010/main" val="300743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 calcmode="lin" valueType="num">
                                      <p:cBhvr additive="base">
                                        <p:cTn id="13" dur="500" fill="hold"/>
                                        <p:tgtEl>
                                          <p:spTgt spid="38"/>
                                        </p:tgtEl>
                                        <p:attrNameLst>
                                          <p:attrName>ppt_x</p:attrName>
                                        </p:attrNameLst>
                                      </p:cBhvr>
                                      <p:tavLst>
                                        <p:tav tm="0">
                                          <p:val>
                                            <p:strVal val="#ppt_x"/>
                                          </p:val>
                                        </p:tav>
                                        <p:tav tm="100000">
                                          <p:val>
                                            <p:strVal val="#ppt_x"/>
                                          </p:val>
                                        </p:tav>
                                      </p:tavLst>
                                    </p:anim>
                                    <p:anim calcmode="lin" valueType="num">
                                      <p:cBhvr additive="base">
                                        <p:cTn id="14" dur="500" fill="hold"/>
                                        <p:tgtEl>
                                          <p:spTgt spid="3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ppt_x"/>
                                          </p:val>
                                        </p:tav>
                                        <p:tav tm="100000">
                                          <p:val>
                                            <p:strVal val="#ppt_x"/>
                                          </p:val>
                                        </p:tav>
                                      </p:tavLst>
                                    </p:anim>
                                    <p:anim calcmode="lin" valueType="num">
                                      <p:cBhvr additive="base">
                                        <p:cTn id="2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additive="base">
                                        <p:cTn id="25" dur="500" fill="hold"/>
                                        <p:tgtEl>
                                          <p:spTgt spid="40"/>
                                        </p:tgtEl>
                                        <p:attrNameLst>
                                          <p:attrName>ppt_x</p:attrName>
                                        </p:attrNameLst>
                                      </p:cBhvr>
                                      <p:tavLst>
                                        <p:tav tm="0">
                                          <p:val>
                                            <p:strVal val="1+#ppt_w/2"/>
                                          </p:val>
                                        </p:tav>
                                        <p:tav tm="100000">
                                          <p:val>
                                            <p:strVal val="#ppt_x"/>
                                          </p:val>
                                        </p:tav>
                                      </p:tavLst>
                                    </p:anim>
                                    <p:anim calcmode="lin" valueType="num">
                                      <p:cBhvr additive="base">
                                        <p:cTn id="26"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3F9BC7C-CE72-4464-9003-E56551F24AA7}"/>
              </a:ext>
            </a:extLst>
          </p:cNvPr>
          <p:cNvSpPr/>
          <p:nvPr/>
        </p:nvSpPr>
        <p:spPr>
          <a:xfrm>
            <a:off x="170329" y="524448"/>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Phishing</a:t>
            </a:r>
          </a:p>
        </p:txBody>
      </p:sp>
      <p:sp>
        <p:nvSpPr>
          <p:cNvPr id="20" name="Rectangle: Rounded Corners 19">
            <a:extLst>
              <a:ext uri="{FF2B5EF4-FFF2-40B4-BE49-F238E27FC236}">
                <a16:creationId xmlns:a16="http://schemas.microsoft.com/office/drawing/2014/main" id="{4AE45D9E-9DDB-4038-A426-1693FF655152}"/>
              </a:ext>
            </a:extLst>
          </p:cNvPr>
          <p:cNvSpPr/>
          <p:nvPr/>
        </p:nvSpPr>
        <p:spPr>
          <a:xfrm>
            <a:off x="170329" y="294491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Social-Engineering</a:t>
            </a:r>
          </a:p>
        </p:txBody>
      </p:sp>
      <p:sp>
        <p:nvSpPr>
          <p:cNvPr id="21" name="Rectangle: Rounded Corners 20">
            <a:extLst>
              <a:ext uri="{FF2B5EF4-FFF2-40B4-BE49-F238E27FC236}">
                <a16:creationId xmlns:a16="http://schemas.microsoft.com/office/drawing/2014/main" id="{54458019-D428-45A6-BA3E-5D49503493A7}"/>
              </a:ext>
            </a:extLst>
          </p:cNvPr>
          <p:cNvSpPr/>
          <p:nvPr/>
        </p:nvSpPr>
        <p:spPr>
          <a:xfrm>
            <a:off x="170329" y="172347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Introduction</a:t>
            </a:r>
          </a:p>
        </p:txBody>
      </p:sp>
      <p:sp>
        <p:nvSpPr>
          <p:cNvPr id="22" name="Rectangle: Rounded Corners 21">
            <a:extLst>
              <a:ext uri="{FF2B5EF4-FFF2-40B4-BE49-F238E27FC236}">
                <a16:creationId xmlns:a16="http://schemas.microsoft.com/office/drawing/2014/main" id="{39C0679B-3FFA-478D-9BE1-9BA3728EB0B0}"/>
              </a:ext>
            </a:extLst>
          </p:cNvPr>
          <p:cNvSpPr/>
          <p:nvPr/>
        </p:nvSpPr>
        <p:spPr>
          <a:xfrm>
            <a:off x="170329" y="4143936"/>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Practices</a:t>
            </a:r>
          </a:p>
        </p:txBody>
      </p:sp>
      <p:sp>
        <p:nvSpPr>
          <p:cNvPr id="23" name="Rectangle: Rounded Corners 22">
            <a:extLst>
              <a:ext uri="{FF2B5EF4-FFF2-40B4-BE49-F238E27FC236}">
                <a16:creationId xmlns:a16="http://schemas.microsoft.com/office/drawing/2014/main" id="{3D962F3C-5431-42FC-BF8C-F96BE3328ED9}"/>
              </a:ext>
            </a:extLst>
          </p:cNvPr>
          <p:cNvSpPr/>
          <p:nvPr/>
        </p:nvSpPr>
        <p:spPr>
          <a:xfrm>
            <a:off x="170329" y="5365375"/>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Examples</a:t>
            </a:r>
          </a:p>
        </p:txBody>
      </p:sp>
      <p:sp>
        <p:nvSpPr>
          <p:cNvPr id="17" name="Rectangle: Rounded Corners 16">
            <a:extLst>
              <a:ext uri="{FF2B5EF4-FFF2-40B4-BE49-F238E27FC236}">
                <a16:creationId xmlns:a16="http://schemas.microsoft.com/office/drawing/2014/main" id="{AE8BA889-40EC-4F2C-BEC7-DC687D4DC367}"/>
              </a:ext>
            </a:extLst>
          </p:cNvPr>
          <p:cNvSpPr/>
          <p:nvPr/>
        </p:nvSpPr>
        <p:spPr>
          <a:xfrm>
            <a:off x="170329" y="526689"/>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F9EFD173-45B8-4B86-8C4B-A16FB7682281}"/>
              </a:ext>
            </a:extLst>
          </p:cNvPr>
          <p:cNvSpPr/>
          <p:nvPr/>
        </p:nvSpPr>
        <p:spPr>
          <a:xfrm>
            <a:off x="170329" y="4143935"/>
            <a:ext cx="3509682" cy="9749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FD45D723-941D-4BBC-BB2C-9F35CB2B7F77}"/>
              </a:ext>
            </a:extLst>
          </p:cNvPr>
          <p:cNvSpPr/>
          <p:nvPr/>
        </p:nvSpPr>
        <p:spPr>
          <a:xfrm>
            <a:off x="170329" y="5365375"/>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F2DCF444-785A-473B-9C38-B59B3AB529EF}"/>
              </a:ext>
            </a:extLst>
          </p:cNvPr>
          <p:cNvSpPr/>
          <p:nvPr/>
        </p:nvSpPr>
        <p:spPr>
          <a:xfrm>
            <a:off x="170329" y="1723470"/>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6A58EAB-BE55-4CE0-A1B7-14882C340BF4}"/>
              </a:ext>
            </a:extLst>
          </p:cNvPr>
          <p:cNvSpPr/>
          <p:nvPr/>
        </p:nvSpPr>
        <p:spPr>
          <a:xfrm>
            <a:off x="3106271" y="273423"/>
            <a:ext cx="8915400" cy="6311154"/>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544D4E0B-9241-46CE-AE07-FBC67AFE282C}"/>
              </a:ext>
            </a:extLst>
          </p:cNvPr>
          <p:cNvSpPr/>
          <p:nvPr/>
        </p:nvSpPr>
        <p:spPr>
          <a:xfrm>
            <a:off x="3429001" y="571501"/>
            <a:ext cx="8229599" cy="2254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Social engineering includes many techniques including phishing, pharming, spear phishing, whaling, USB drop key, tailgating, shoulder-surfing and even badge cloning.</a:t>
            </a:r>
          </a:p>
        </p:txBody>
      </p:sp>
      <p:sp>
        <p:nvSpPr>
          <p:cNvPr id="3" name="Rectangle: Rounded Corners 2">
            <a:extLst>
              <a:ext uri="{FF2B5EF4-FFF2-40B4-BE49-F238E27FC236}">
                <a16:creationId xmlns:a16="http://schemas.microsoft.com/office/drawing/2014/main" id="{62E7FA06-48D1-4745-BECD-AA4D2AD17647}"/>
              </a:ext>
            </a:extLst>
          </p:cNvPr>
          <p:cNvSpPr/>
          <p:nvPr/>
        </p:nvSpPr>
        <p:spPr>
          <a:xfrm>
            <a:off x="3435724" y="2952747"/>
            <a:ext cx="8256494" cy="2382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Social engineering is dangerous because it targets the actual people and their primal emotions. Attackers don’t need high end technology, they just need to share a lunch with one employee  everyday for about one week.</a:t>
            </a:r>
          </a:p>
        </p:txBody>
      </p:sp>
      <p:pic>
        <p:nvPicPr>
          <p:cNvPr id="5" name="Picture 4">
            <a:extLst>
              <a:ext uri="{FF2B5EF4-FFF2-40B4-BE49-F238E27FC236}">
                <a16:creationId xmlns:a16="http://schemas.microsoft.com/office/drawing/2014/main" id="{F0DD8B67-7983-411D-A349-B7E4318B6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7437" y="5461743"/>
            <a:ext cx="1495516" cy="1024869"/>
          </a:xfrm>
          <a:prstGeom prst="rect">
            <a:avLst/>
          </a:prstGeom>
        </p:spPr>
      </p:pic>
      <p:sp>
        <p:nvSpPr>
          <p:cNvPr id="7" name="Rectangle: Rounded Corners 6">
            <a:extLst>
              <a:ext uri="{FF2B5EF4-FFF2-40B4-BE49-F238E27FC236}">
                <a16:creationId xmlns:a16="http://schemas.microsoft.com/office/drawing/2014/main" id="{8B5BFA17-C8EE-4C29-ADAE-035406266D14}"/>
              </a:ext>
            </a:extLst>
          </p:cNvPr>
          <p:cNvSpPr/>
          <p:nvPr/>
        </p:nvSpPr>
        <p:spPr>
          <a:xfrm>
            <a:off x="6096000" y="5505450"/>
            <a:ext cx="5123329" cy="8247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 Protect your privacy at all cost.</a:t>
            </a:r>
          </a:p>
        </p:txBody>
      </p:sp>
    </p:spTree>
    <p:extLst>
      <p:ext uri="{BB962C8B-B14F-4D97-AF65-F5344CB8AC3E}">
        <p14:creationId xmlns:p14="http://schemas.microsoft.com/office/powerpoint/2010/main" val="2673464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 grpId="0" animBg="1"/>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3F9BC7C-CE72-4464-9003-E56551F24AA7}"/>
              </a:ext>
            </a:extLst>
          </p:cNvPr>
          <p:cNvSpPr/>
          <p:nvPr/>
        </p:nvSpPr>
        <p:spPr>
          <a:xfrm>
            <a:off x="170329" y="524448"/>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Phishing</a:t>
            </a:r>
          </a:p>
        </p:txBody>
      </p:sp>
      <p:sp>
        <p:nvSpPr>
          <p:cNvPr id="20" name="Rectangle: Rounded Corners 19">
            <a:extLst>
              <a:ext uri="{FF2B5EF4-FFF2-40B4-BE49-F238E27FC236}">
                <a16:creationId xmlns:a16="http://schemas.microsoft.com/office/drawing/2014/main" id="{4AE45D9E-9DDB-4038-A426-1693FF655152}"/>
              </a:ext>
            </a:extLst>
          </p:cNvPr>
          <p:cNvSpPr/>
          <p:nvPr/>
        </p:nvSpPr>
        <p:spPr>
          <a:xfrm>
            <a:off x="170329" y="294491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Social-Engineering</a:t>
            </a:r>
          </a:p>
        </p:txBody>
      </p:sp>
      <p:sp>
        <p:nvSpPr>
          <p:cNvPr id="21" name="Rectangle: Rounded Corners 20">
            <a:extLst>
              <a:ext uri="{FF2B5EF4-FFF2-40B4-BE49-F238E27FC236}">
                <a16:creationId xmlns:a16="http://schemas.microsoft.com/office/drawing/2014/main" id="{54458019-D428-45A6-BA3E-5D49503493A7}"/>
              </a:ext>
            </a:extLst>
          </p:cNvPr>
          <p:cNvSpPr/>
          <p:nvPr/>
        </p:nvSpPr>
        <p:spPr>
          <a:xfrm>
            <a:off x="170329" y="172347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Introduction</a:t>
            </a:r>
          </a:p>
        </p:txBody>
      </p:sp>
      <p:sp>
        <p:nvSpPr>
          <p:cNvPr id="22" name="Rectangle: Rounded Corners 21">
            <a:extLst>
              <a:ext uri="{FF2B5EF4-FFF2-40B4-BE49-F238E27FC236}">
                <a16:creationId xmlns:a16="http://schemas.microsoft.com/office/drawing/2014/main" id="{39C0679B-3FFA-478D-9BE1-9BA3728EB0B0}"/>
              </a:ext>
            </a:extLst>
          </p:cNvPr>
          <p:cNvSpPr/>
          <p:nvPr/>
        </p:nvSpPr>
        <p:spPr>
          <a:xfrm>
            <a:off x="170329" y="4143936"/>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Practices</a:t>
            </a:r>
          </a:p>
        </p:txBody>
      </p:sp>
      <p:sp>
        <p:nvSpPr>
          <p:cNvPr id="23" name="Rectangle: Rounded Corners 22">
            <a:extLst>
              <a:ext uri="{FF2B5EF4-FFF2-40B4-BE49-F238E27FC236}">
                <a16:creationId xmlns:a16="http://schemas.microsoft.com/office/drawing/2014/main" id="{3D962F3C-5431-42FC-BF8C-F96BE3328ED9}"/>
              </a:ext>
            </a:extLst>
          </p:cNvPr>
          <p:cNvSpPr/>
          <p:nvPr/>
        </p:nvSpPr>
        <p:spPr>
          <a:xfrm>
            <a:off x="170329" y="5365375"/>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Examples</a:t>
            </a:r>
          </a:p>
        </p:txBody>
      </p:sp>
      <p:sp>
        <p:nvSpPr>
          <p:cNvPr id="17" name="Rectangle: Rounded Corners 16">
            <a:extLst>
              <a:ext uri="{FF2B5EF4-FFF2-40B4-BE49-F238E27FC236}">
                <a16:creationId xmlns:a16="http://schemas.microsoft.com/office/drawing/2014/main" id="{AE8BA889-40EC-4F2C-BEC7-DC687D4DC367}"/>
              </a:ext>
            </a:extLst>
          </p:cNvPr>
          <p:cNvSpPr/>
          <p:nvPr/>
        </p:nvSpPr>
        <p:spPr>
          <a:xfrm>
            <a:off x="170329" y="524447"/>
            <a:ext cx="3500718" cy="914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3F705D4-C8DB-4BC5-AB67-81BA129A87CE}"/>
              </a:ext>
            </a:extLst>
          </p:cNvPr>
          <p:cNvSpPr/>
          <p:nvPr/>
        </p:nvSpPr>
        <p:spPr>
          <a:xfrm>
            <a:off x="179293" y="2944911"/>
            <a:ext cx="3500718" cy="8785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1F71752-815D-4F12-B08A-974B65044F7D}"/>
              </a:ext>
            </a:extLst>
          </p:cNvPr>
          <p:cNvSpPr/>
          <p:nvPr/>
        </p:nvSpPr>
        <p:spPr>
          <a:xfrm>
            <a:off x="170329" y="1710029"/>
            <a:ext cx="3500718" cy="9099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A37688DC-AFFC-48FE-B454-D1B8701C0A1D}"/>
              </a:ext>
            </a:extLst>
          </p:cNvPr>
          <p:cNvSpPr/>
          <p:nvPr/>
        </p:nvSpPr>
        <p:spPr>
          <a:xfrm>
            <a:off x="179293" y="5365375"/>
            <a:ext cx="3500718"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6A58EAB-BE55-4CE0-A1B7-14882C340BF4}"/>
              </a:ext>
            </a:extLst>
          </p:cNvPr>
          <p:cNvSpPr/>
          <p:nvPr/>
        </p:nvSpPr>
        <p:spPr>
          <a:xfrm>
            <a:off x="3106271" y="273423"/>
            <a:ext cx="8915400" cy="6311154"/>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A29BDC92-71A1-4065-B3BE-D8792ED42B4D}"/>
              </a:ext>
            </a:extLst>
          </p:cNvPr>
          <p:cNvSpPr/>
          <p:nvPr/>
        </p:nvSpPr>
        <p:spPr>
          <a:xfrm>
            <a:off x="3415552" y="578259"/>
            <a:ext cx="6158754" cy="21907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The practice to prevent phishing and social engineering attacks is not to trust everything online and gaining basics of information security.</a:t>
            </a:r>
          </a:p>
        </p:txBody>
      </p:sp>
      <p:pic>
        <p:nvPicPr>
          <p:cNvPr id="4" name="Picture 3">
            <a:extLst>
              <a:ext uri="{FF2B5EF4-FFF2-40B4-BE49-F238E27FC236}">
                <a16:creationId xmlns:a16="http://schemas.microsoft.com/office/drawing/2014/main" id="{C509687B-7A2D-4E77-9342-1CE224B257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2562" y="377631"/>
            <a:ext cx="1515036" cy="2445153"/>
          </a:xfrm>
          <a:prstGeom prst="rect">
            <a:avLst/>
          </a:prstGeom>
        </p:spPr>
      </p:pic>
      <p:sp>
        <p:nvSpPr>
          <p:cNvPr id="6" name="Rectangle: Rounded Corners 5">
            <a:extLst>
              <a:ext uri="{FF2B5EF4-FFF2-40B4-BE49-F238E27FC236}">
                <a16:creationId xmlns:a16="http://schemas.microsoft.com/office/drawing/2014/main" id="{BE20A650-6961-4905-924A-D03B9D55F201}"/>
              </a:ext>
            </a:extLst>
          </p:cNvPr>
          <p:cNvSpPr/>
          <p:nvPr/>
        </p:nvSpPr>
        <p:spPr>
          <a:xfrm>
            <a:off x="3292289" y="2922496"/>
            <a:ext cx="6797488" cy="35085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You should not click random links from unknown accounts, don’t try to insert random USB drives to your main PCs, check apps and uninstall ones you didn’t download, don’t reveal your credentials to strangers and check the email accounts before clicking the links or opening attachments and zip files.</a:t>
            </a:r>
          </a:p>
        </p:txBody>
      </p:sp>
      <p:pic>
        <p:nvPicPr>
          <p:cNvPr id="8" name="Picture 7">
            <a:extLst>
              <a:ext uri="{FF2B5EF4-FFF2-40B4-BE49-F238E27FC236}">
                <a16:creationId xmlns:a16="http://schemas.microsoft.com/office/drawing/2014/main" id="{B907CEE0-3B17-4488-B690-E80746AEC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5795" y="3928784"/>
            <a:ext cx="1685031" cy="1819833"/>
          </a:xfrm>
          <a:prstGeom prst="rect">
            <a:avLst/>
          </a:prstGeom>
        </p:spPr>
      </p:pic>
    </p:spTree>
    <p:extLst>
      <p:ext uri="{BB962C8B-B14F-4D97-AF65-F5344CB8AC3E}">
        <p14:creationId xmlns:p14="http://schemas.microsoft.com/office/powerpoint/2010/main" val="313762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3F9BC7C-CE72-4464-9003-E56551F24AA7}"/>
              </a:ext>
            </a:extLst>
          </p:cNvPr>
          <p:cNvSpPr/>
          <p:nvPr/>
        </p:nvSpPr>
        <p:spPr>
          <a:xfrm>
            <a:off x="170329" y="524448"/>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Phishing</a:t>
            </a:r>
          </a:p>
        </p:txBody>
      </p:sp>
      <p:sp>
        <p:nvSpPr>
          <p:cNvPr id="20" name="Rectangle: Rounded Corners 19">
            <a:extLst>
              <a:ext uri="{FF2B5EF4-FFF2-40B4-BE49-F238E27FC236}">
                <a16:creationId xmlns:a16="http://schemas.microsoft.com/office/drawing/2014/main" id="{4AE45D9E-9DDB-4038-A426-1693FF655152}"/>
              </a:ext>
            </a:extLst>
          </p:cNvPr>
          <p:cNvSpPr/>
          <p:nvPr/>
        </p:nvSpPr>
        <p:spPr>
          <a:xfrm>
            <a:off x="170329" y="294491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Social-Engineering</a:t>
            </a:r>
          </a:p>
        </p:txBody>
      </p:sp>
      <p:sp>
        <p:nvSpPr>
          <p:cNvPr id="21" name="Rectangle: Rounded Corners 20">
            <a:extLst>
              <a:ext uri="{FF2B5EF4-FFF2-40B4-BE49-F238E27FC236}">
                <a16:creationId xmlns:a16="http://schemas.microsoft.com/office/drawing/2014/main" id="{54458019-D428-45A6-BA3E-5D49503493A7}"/>
              </a:ext>
            </a:extLst>
          </p:cNvPr>
          <p:cNvSpPr/>
          <p:nvPr/>
        </p:nvSpPr>
        <p:spPr>
          <a:xfrm>
            <a:off x="170329" y="172347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Introduction</a:t>
            </a:r>
          </a:p>
        </p:txBody>
      </p:sp>
      <p:sp>
        <p:nvSpPr>
          <p:cNvPr id="22" name="Rectangle: Rounded Corners 21">
            <a:extLst>
              <a:ext uri="{FF2B5EF4-FFF2-40B4-BE49-F238E27FC236}">
                <a16:creationId xmlns:a16="http://schemas.microsoft.com/office/drawing/2014/main" id="{39C0679B-3FFA-478D-9BE1-9BA3728EB0B0}"/>
              </a:ext>
            </a:extLst>
          </p:cNvPr>
          <p:cNvSpPr/>
          <p:nvPr/>
        </p:nvSpPr>
        <p:spPr>
          <a:xfrm>
            <a:off x="170329" y="4143936"/>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Practices</a:t>
            </a:r>
          </a:p>
        </p:txBody>
      </p:sp>
      <p:sp>
        <p:nvSpPr>
          <p:cNvPr id="23" name="Rectangle: Rounded Corners 22">
            <a:extLst>
              <a:ext uri="{FF2B5EF4-FFF2-40B4-BE49-F238E27FC236}">
                <a16:creationId xmlns:a16="http://schemas.microsoft.com/office/drawing/2014/main" id="{3D962F3C-5431-42FC-BF8C-F96BE3328ED9}"/>
              </a:ext>
            </a:extLst>
          </p:cNvPr>
          <p:cNvSpPr/>
          <p:nvPr/>
        </p:nvSpPr>
        <p:spPr>
          <a:xfrm>
            <a:off x="170329" y="5365375"/>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Examples</a:t>
            </a:r>
          </a:p>
        </p:txBody>
      </p:sp>
      <p:sp>
        <p:nvSpPr>
          <p:cNvPr id="17" name="Rectangle: Rounded Corners 16">
            <a:extLst>
              <a:ext uri="{FF2B5EF4-FFF2-40B4-BE49-F238E27FC236}">
                <a16:creationId xmlns:a16="http://schemas.microsoft.com/office/drawing/2014/main" id="{AE8BA889-40EC-4F2C-BEC7-DC687D4DC367}"/>
              </a:ext>
            </a:extLst>
          </p:cNvPr>
          <p:cNvSpPr/>
          <p:nvPr/>
        </p:nvSpPr>
        <p:spPr>
          <a:xfrm>
            <a:off x="170329" y="524447"/>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88C389C4-D94A-4E52-9B54-564BE9D71651}"/>
              </a:ext>
            </a:extLst>
          </p:cNvPr>
          <p:cNvSpPr/>
          <p:nvPr/>
        </p:nvSpPr>
        <p:spPr>
          <a:xfrm>
            <a:off x="170329" y="1723470"/>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5A52EE71-72CD-4E0F-B907-4D09DEC37BEF}"/>
              </a:ext>
            </a:extLst>
          </p:cNvPr>
          <p:cNvSpPr/>
          <p:nvPr/>
        </p:nvSpPr>
        <p:spPr>
          <a:xfrm>
            <a:off x="170329" y="2944912"/>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FB91D221-819D-4C7F-B89F-E1877D84D1B1}"/>
              </a:ext>
            </a:extLst>
          </p:cNvPr>
          <p:cNvSpPr/>
          <p:nvPr/>
        </p:nvSpPr>
        <p:spPr>
          <a:xfrm>
            <a:off x="170329" y="4143936"/>
            <a:ext cx="3509682" cy="979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6A58EAB-BE55-4CE0-A1B7-14882C340BF4}"/>
              </a:ext>
            </a:extLst>
          </p:cNvPr>
          <p:cNvSpPr/>
          <p:nvPr/>
        </p:nvSpPr>
        <p:spPr>
          <a:xfrm>
            <a:off x="3106271" y="273423"/>
            <a:ext cx="8915400" cy="6311154"/>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D04B13B7-0842-47E9-A082-A040DB73F7AC}"/>
              </a:ext>
            </a:extLst>
          </p:cNvPr>
          <p:cNvSpPr/>
          <p:nvPr/>
        </p:nvSpPr>
        <p:spPr>
          <a:xfrm>
            <a:off x="3550024" y="605128"/>
            <a:ext cx="5647764" cy="979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Here are three real-world examples:</a:t>
            </a:r>
          </a:p>
        </p:txBody>
      </p:sp>
      <p:sp>
        <p:nvSpPr>
          <p:cNvPr id="3" name="Rectangle: Rounded Corners 2">
            <a:extLst>
              <a:ext uri="{FF2B5EF4-FFF2-40B4-BE49-F238E27FC236}">
                <a16:creationId xmlns:a16="http://schemas.microsoft.com/office/drawing/2014/main" id="{141DFF6F-25D6-4922-B734-B3C505E81788}"/>
              </a:ext>
            </a:extLst>
          </p:cNvPr>
          <p:cNvSpPr/>
          <p:nvPr/>
        </p:nvSpPr>
        <p:spPr>
          <a:xfrm>
            <a:off x="3550024" y="1779499"/>
            <a:ext cx="3953436" cy="40991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dirty="0">
                <a:solidFill>
                  <a:schemeClr val="tx1"/>
                </a:solidFill>
              </a:rPr>
              <a:t>In 2013-2015, a fraudster impersonated a legitimate Asian hardware suppler and sent fake invoices and business emails to employees of google.</a:t>
            </a:r>
          </a:p>
          <a:p>
            <a:pPr algn="ctr"/>
            <a:r>
              <a:rPr lang="en-US" sz="2400" b="1" i="1" dirty="0">
                <a:solidFill>
                  <a:schemeClr val="tx1"/>
                </a:solidFill>
              </a:rPr>
              <a:t>Then, the employees send payments to fake bank accounts controlled by the attackers.</a:t>
            </a:r>
          </a:p>
        </p:txBody>
      </p:sp>
      <p:sp>
        <p:nvSpPr>
          <p:cNvPr id="4" name="Rectangle: Rounded Corners 3">
            <a:extLst>
              <a:ext uri="{FF2B5EF4-FFF2-40B4-BE49-F238E27FC236}">
                <a16:creationId xmlns:a16="http://schemas.microsoft.com/office/drawing/2014/main" id="{A0C8EE29-386A-4090-8861-34E9501EF42D}"/>
              </a:ext>
            </a:extLst>
          </p:cNvPr>
          <p:cNvSpPr/>
          <p:nvPr/>
        </p:nvSpPr>
        <p:spPr>
          <a:xfrm>
            <a:off x="8330454" y="1969999"/>
            <a:ext cx="3381934" cy="12640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dirty="0">
                <a:solidFill>
                  <a:schemeClr val="tx1"/>
                </a:solidFill>
              </a:rPr>
              <a:t>More than $100 millions was fraudulently obtained.</a:t>
            </a:r>
          </a:p>
        </p:txBody>
      </p:sp>
      <p:pic>
        <p:nvPicPr>
          <p:cNvPr id="6" name="Picture 5">
            <a:extLst>
              <a:ext uri="{FF2B5EF4-FFF2-40B4-BE49-F238E27FC236}">
                <a16:creationId xmlns:a16="http://schemas.microsoft.com/office/drawing/2014/main" id="{706CF94B-96BE-47F3-A394-A213FE7F9B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2706" y="3623977"/>
            <a:ext cx="3381934" cy="2254623"/>
          </a:xfrm>
          <a:prstGeom prst="rect">
            <a:avLst/>
          </a:prstGeom>
        </p:spPr>
      </p:pic>
      <p:sp>
        <p:nvSpPr>
          <p:cNvPr id="7" name="Rectangle: Rounded Corners 6">
            <a:extLst>
              <a:ext uri="{FF2B5EF4-FFF2-40B4-BE49-F238E27FC236}">
                <a16:creationId xmlns:a16="http://schemas.microsoft.com/office/drawing/2014/main" id="{6105FA47-0B5D-40C0-A31C-31B3883BA8A6}"/>
              </a:ext>
            </a:extLst>
          </p:cNvPr>
          <p:cNvSpPr/>
          <p:nvPr/>
        </p:nvSpPr>
        <p:spPr>
          <a:xfrm>
            <a:off x="9533965" y="705981"/>
            <a:ext cx="1949823" cy="874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1" dirty="0">
                <a:solidFill>
                  <a:schemeClr val="tx1"/>
                </a:solidFill>
              </a:rPr>
              <a:t>Google</a:t>
            </a:r>
          </a:p>
        </p:txBody>
      </p:sp>
    </p:spTree>
    <p:extLst>
      <p:ext uri="{BB962C8B-B14F-4D97-AF65-F5344CB8AC3E}">
        <p14:creationId xmlns:p14="http://schemas.microsoft.com/office/powerpoint/2010/main" val="212542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1+#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 grpId="0" animBg="1"/>
      <p:bldP spid="3" grpId="0" animBg="1"/>
      <p:bldP spid="4"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3F9BC7C-CE72-4464-9003-E56551F24AA7}"/>
              </a:ext>
            </a:extLst>
          </p:cNvPr>
          <p:cNvSpPr/>
          <p:nvPr/>
        </p:nvSpPr>
        <p:spPr>
          <a:xfrm>
            <a:off x="170329" y="524448"/>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Phishing</a:t>
            </a:r>
          </a:p>
        </p:txBody>
      </p:sp>
      <p:sp>
        <p:nvSpPr>
          <p:cNvPr id="20" name="Rectangle: Rounded Corners 19">
            <a:extLst>
              <a:ext uri="{FF2B5EF4-FFF2-40B4-BE49-F238E27FC236}">
                <a16:creationId xmlns:a16="http://schemas.microsoft.com/office/drawing/2014/main" id="{4AE45D9E-9DDB-4038-A426-1693FF655152}"/>
              </a:ext>
            </a:extLst>
          </p:cNvPr>
          <p:cNvSpPr/>
          <p:nvPr/>
        </p:nvSpPr>
        <p:spPr>
          <a:xfrm>
            <a:off x="170329" y="294491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Social-Engineering</a:t>
            </a:r>
          </a:p>
        </p:txBody>
      </p:sp>
      <p:sp>
        <p:nvSpPr>
          <p:cNvPr id="21" name="Rectangle: Rounded Corners 20">
            <a:extLst>
              <a:ext uri="{FF2B5EF4-FFF2-40B4-BE49-F238E27FC236}">
                <a16:creationId xmlns:a16="http://schemas.microsoft.com/office/drawing/2014/main" id="{54458019-D428-45A6-BA3E-5D49503493A7}"/>
              </a:ext>
            </a:extLst>
          </p:cNvPr>
          <p:cNvSpPr/>
          <p:nvPr/>
        </p:nvSpPr>
        <p:spPr>
          <a:xfrm>
            <a:off x="170329" y="172347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Introduction</a:t>
            </a:r>
          </a:p>
        </p:txBody>
      </p:sp>
      <p:sp>
        <p:nvSpPr>
          <p:cNvPr id="22" name="Rectangle: Rounded Corners 21">
            <a:extLst>
              <a:ext uri="{FF2B5EF4-FFF2-40B4-BE49-F238E27FC236}">
                <a16:creationId xmlns:a16="http://schemas.microsoft.com/office/drawing/2014/main" id="{39C0679B-3FFA-478D-9BE1-9BA3728EB0B0}"/>
              </a:ext>
            </a:extLst>
          </p:cNvPr>
          <p:cNvSpPr/>
          <p:nvPr/>
        </p:nvSpPr>
        <p:spPr>
          <a:xfrm>
            <a:off x="170329" y="4143936"/>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Practices</a:t>
            </a:r>
          </a:p>
        </p:txBody>
      </p:sp>
      <p:sp>
        <p:nvSpPr>
          <p:cNvPr id="23" name="Rectangle: Rounded Corners 22">
            <a:extLst>
              <a:ext uri="{FF2B5EF4-FFF2-40B4-BE49-F238E27FC236}">
                <a16:creationId xmlns:a16="http://schemas.microsoft.com/office/drawing/2014/main" id="{3D962F3C-5431-42FC-BF8C-F96BE3328ED9}"/>
              </a:ext>
            </a:extLst>
          </p:cNvPr>
          <p:cNvSpPr/>
          <p:nvPr/>
        </p:nvSpPr>
        <p:spPr>
          <a:xfrm>
            <a:off x="170329" y="5365375"/>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Examples</a:t>
            </a:r>
          </a:p>
        </p:txBody>
      </p:sp>
      <p:sp>
        <p:nvSpPr>
          <p:cNvPr id="17" name="Rectangle: Rounded Corners 16">
            <a:extLst>
              <a:ext uri="{FF2B5EF4-FFF2-40B4-BE49-F238E27FC236}">
                <a16:creationId xmlns:a16="http://schemas.microsoft.com/office/drawing/2014/main" id="{AE8BA889-40EC-4F2C-BEC7-DC687D4DC367}"/>
              </a:ext>
            </a:extLst>
          </p:cNvPr>
          <p:cNvSpPr/>
          <p:nvPr/>
        </p:nvSpPr>
        <p:spPr>
          <a:xfrm>
            <a:off x="170329" y="524447"/>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88C389C4-D94A-4E52-9B54-564BE9D71651}"/>
              </a:ext>
            </a:extLst>
          </p:cNvPr>
          <p:cNvSpPr/>
          <p:nvPr/>
        </p:nvSpPr>
        <p:spPr>
          <a:xfrm>
            <a:off x="170329" y="1723470"/>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5A52EE71-72CD-4E0F-B907-4D09DEC37BEF}"/>
              </a:ext>
            </a:extLst>
          </p:cNvPr>
          <p:cNvSpPr/>
          <p:nvPr/>
        </p:nvSpPr>
        <p:spPr>
          <a:xfrm>
            <a:off x="170329" y="2944912"/>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FB91D221-819D-4C7F-B89F-E1877D84D1B1}"/>
              </a:ext>
            </a:extLst>
          </p:cNvPr>
          <p:cNvSpPr/>
          <p:nvPr/>
        </p:nvSpPr>
        <p:spPr>
          <a:xfrm>
            <a:off x="170329" y="4143936"/>
            <a:ext cx="3509682" cy="979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6A58EAB-BE55-4CE0-A1B7-14882C340BF4}"/>
              </a:ext>
            </a:extLst>
          </p:cNvPr>
          <p:cNvSpPr/>
          <p:nvPr/>
        </p:nvSpPr>
        <p:spPr>
          <a:xfrm>
            <a:off x="3106271" y="273423"/>
            <a:ext cx="8915400" cy="6311154"/>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D04B13B7-0842-47E9-A082-A040DB73F7AC}"/>
              </a:ext>
            </a:extLst>
          </p:cNvPr>
          <p:cNvSpPr/>
          <p:nvPr/>
        </p:nvSpPr>
        <p:spPr>
          <a:xfrm>
            <a:off x="3680011" y="645472"/>
            <a:ext cx="5652248" cy="10219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Here are three real-world examples:</a:t>
            </a:r>
          </a:p>
        </p:txBody>
      </p:sp>
      <p:sp>
        <p:nvSpPr>
          <p:cNvPr id="4" name="Rectangle: Rounded Corners 3">
            <a:extLst>
              <a:ext uri="{FF2B5EF4-FFF2-40B4-BE49-F238E27FC236}">
                <a16:creationId xmlns:a16="http://schemas.microsoft.com/office/drawing/2014/main" id="{0BD350FB-B04F-4561-AC15-3ADD2CCEFC66}"/>
              </a:ext>
            </a:extLst>
          </p:cNvPr>
          <p:cNvSpPr/>
          <p:nvPr/>
        </p:nvSpPr>
        <p:spPr>
          <a:xfrm>
            <a:off x="9507071" y="723910"/>
            <a:ext cx="2191870" cy="943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Twitter/X</a:t>
            </a:r>
          </a:p>
        </p:txBody>
      </p:sp>
      <p:sp>
        <p:nvSpPr>
          <p:cNvPr id="5" name="Rectangle: Rounded Corners 4">
            <a:extLst>
              <a:ext uri="{FF2B5EF4-FFF2-40B4-BE49-F238E27FC236}">
                <a16:creationId xmlns:a16="http://schemas.microsoft.com/office/drawing/2014/main" id="{75C543BF-25DC-41CC-9A4D-A0261F7C5094}"/>
              </a:ext>
            </a:extLst>
          </p:cNvPr>
          <p:cNvSpPr/>
          <p:nvPr/>
        </p:nvSpPr>
        <p:spPr>
          <a:xfrm>
            <a:off x="3601570" y="1909496"/>
            <a:ext cx="5112124" cy="3913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In 2020, attackers used phone-based spear phishing and social engineering to deceive employees. They obtained employees’ credentials and accessed internal systems that are used to manage user accounts.</a:t>
            </a:r>
          </a:p>
        </p:txBody>
      </p:sp>
      <p:sp>
        <p:nvSpPr>
          <p:cNvPr id="6" name="Rectangle: Rounded Corners 5">
            <a:extLst>
              <a:ext uri="{FF2B5EF4-FFF2-40B4-BE49-F238E27FC236}">
                <a16:creationId xmlns:a16="http://schemas.microsoft.com/office/drawing/2014/main" id="{910ED5DB-4F4A-4DA0-B3F6-38A0FA1E6500}"/>
              </a:ext>
            </a:extLst>
          </p:cNvPr>
          <p:cNvSpPr/>
          <p:nvPr/>
        </p:nvSpPr>
        <p:spPr>
          <a:xfrm>
            <a:off x="8955742" y="1909496"/>
            <a:ext cx="2487706" cy="37786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The impact was not only money but also 130 accounts were used to promote a Bitcoin scam.</a:t>
            </a:r>
          </a:p>
        </p:txBody>
      </p:sp>
      <p:pic>
        <p:nvPicPr>
          <p:cNvPr id="8" name="Picture 7">
            <a:extLst>
              <a:ext uri="{FF2B5EF4-FFF2-40B4-BE49-F238E27FC236}">
                <a16:creationId xmlns:a16="http://schemas.microsoft.com/office/drawing/2014/main" id="{431F0B70-1720-44EE-BBE4-AA883CFFE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0496" y="5930928"/>
            <a:ext cx="625975" cy="625975"/>
          </a:xfrm>
          <a:prstGeom prst="rect">
            <a:avLst/>
          </a:prstGeom>
        </p:spPr>
      </p:pic>
    </p:spTree>
    <p:extLst>
      <p:ext uri="{BB962C8B-B14F-4D97-AF65-F5344CB8AC3E}">
        <p14:creationId xmlns:p14="http://schemas.microsoft.com/office/powerpoint/2010/main" val="171968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3F9BC7C-CE72-4464-9003-E56551F24AA7}"/>
              </a:ext>
            </a:extLst>
          </p:cNvPr>
          <p:cNvSpPr/>
          <p:nvPr/>
        </p:nvSpPr>
        <p:spPr>
          <a:xfrm>
            <a:off x="170329" y="524448"/>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Phishing</a:t>
            </a:r>
          </a:p>
        </p:txBody>
      </p:sp>
      <p:sp>
        <p:nvSpPr>
          <p:cNvPr id="20" name="Rectangle: Rounded Corners 19">
            <a:extLst>
              <a:ext uri="{FF2B5EF4-FFF2-40B4-BE49-F238E27FC236}">
                <a16:creationId xmlns:a16="http://schemas.microsoft.com/office/drawing/2014/main" id="{4AE45D9E-9DDB-4038-A426-1693FF655152}"/>
              </a:ext>
            </a:extLst>
          </p:cNvPr>
          <p:cNvSpPr/>
          <p:nvPr/>
        </p:nvSpPr>
        <p:spPr>
          <a:xfrm>
            <a:off x="170329" y="294491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Social-Engineering</a:t>
            </a:r>
          </a:p>
        </p:txBody>
      </p:sp>
      <p:sp>
        <p:nvSpPr>
          <p:cNvPr id="21" name="Rectangle: Rounded Corners 20">
            <a:extLst>
              <a:ext uri="{FF2B5EF4-FFF2-40B4-BE49-F238E27FC236}">
                <a16:creationId xmlns:a16="http://schemas.microsoft.com/office/drawing/2014/main" id="{54458019-D428-45A6-BA3E-5D49503493A7}"/>
              </a:ext>
            </a:extLst>
          </p:cNvPr>
          <p:cNvSpPr/>
          <p:nvPr/>
        </p:nvSpPr>
        <p:spPr>
          <a:xfrm>
            <a:off x="170329" y="1723472"/>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Introduction</a:t>
            </a:r>
          </a:p>
        </p:txBody>
      </p:sp>
      <p:sp>
        <p:nvSpPr>
          <p:cNvPr id="22" name="Rectangle: Rounded Corners 21">
            <a:extLst>
              <a:ext uri="{FF2B5EF4-FFF2-40B4-BE49-F238E27FC236}">
                <a16:creationId xmlns:a16="http://schemas.microsoft.com/office/drawing/2014/main" id="{39C0679B-3FFA-478D-9BE1-9BA3728EB0B0}"/>
              </a:ext>
            </a:extLst>
          </p:cNvPr>
          <p:cNvSpPr/>
          <p:nvPr/>
        </p:nvSpPr>
        <p:spPr>
          <a:xfrm>
            <a:off x="170329" y="4143936"/>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Practices</a:t>
            </a:r>
          </a:p>
        </p:txBody>
      </p:sp>
      <p:sp>
        <p:nvSpPr>
          <p:cNvPr id="23" name="Rectangle: Rounded Corners 22">
            <a:extLst>
              <a:ext uri="{FF2B5EF4-FFF2-40B4-BE49-F238E27FC236}">
                <a16:creationId xmlns:a16="http://schemas.microsoft.com/office/drawing/2014/main" id="{3D962F3C-5431-42FC-BF8C-F96BE3328ED9}"/>
              </a:ext>
            </a:extLst>
          </p:cNvPr>
          <p:cNvSpPr/>
          <p:nvPr/>
        </p:nvSpPr>
        <p:spPr>
          <a:xfrm>
            <a:off x="170329" y="5365375"/>
            <a:ext cx="3509682" cy="87854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2800" dirty="0">
                <a:solidFill>
                  <a:schemeClr val="tx1">
                    <a:lumMod val="85000"/>
                    <a:lumOff val="15000"/>
                  </a:schemeClr>
                </a:solidFill>
              </a:rPr>
              <a:t>Examples</a:t>
            </a:r>
          </a:p>
        </p:txBody>
      </p:sp>
      <p:sp>
        <p:nvSpPr>
          <p:cNvPr id="17" name="Rectangle: Rounded Corners 16">
            <a:extLst>
              <a:ext uri="{FF2B5EF4-FFF2-40B4-BE49-F238E27FC236}">
                <a16:creationId xmlns:a16="http://schemas.microsoft.com/office/drawing/2014/main" id="{AE8BA889-40EC-4F2C-BEC7-DC687D4DC367}"/>
              </a:ext>
            </a:extLst>
          </p:cNvPr>
          <p:cNvSpPr/>
          <p:nvPr/>
        </p:nvSpPr>
        <p:spPr>
          <a:xfrm>
            <a:off x="170329" y="524447"/>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88C389C4-D94A-4E52-9B54-564BE9D71651}"/>
              </a:ext>
            </a:extLst>
          </p:cNvPr>
          <p:cNvSpPr/>
          <p:nvPr/>
        </p:nvSpPr>
        <p:spPr>
          <a:xfrm>
            <a:off x="170329" y="1723470"/>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5A52EE71-72CD-4E0F-B907-4D09DEC37BEF}"/>
              </a:ext>
            </a:extLst>
          </p:cNvPr>
          <p:cNvSpPr/>
          <p:nvPr/>
        </p:nvSpPr>
        <p:spPr>
          <a:xfrm>
            <a:off x="170329" y="2944912"/>
            <a:ext cx="3509682" cy="8785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FB91D221-819D-4C7F-B89F-E1877D84D1B1}"/>
              </a:ext>
            </a:extLst>
          </p:cNvPr>
          <p:cNvSpPr/>
          <p:nvPr/>
        </p:nvSpPr>
        <p:spPr>
          <a:xfrm>
            <a:off x="170329" y="4143936"/>
            <a:ext cx="3509682" cy="979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6A58EAB-BE55-4CE0-A1B7-14882C340BF4}"/>
              </a:ext>
            </a:extLst>
          </p:cNvPr>
          <p:cNvSpPr/>
          <p:nvPr/>
        </p:nvSpPr>
        <p:spPr>
          <a:xfrm>
            <a:off x="3106271" y="273423"/>
            <a:ext cx="8915400" cy="6311154"/>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D04B13B7-0842-47E9-A082-A040DB73F7AC}"/>
              </a:ext>
            </a:extLst>
          </p:cNvPr>
          <p:cNvSpPr/>
          <p:nvPr/>
        </p:nvSpPr>
        <p:spPr>
          <a:xfrm>
            <a:off x="4394947" y="518835"/>
            <a:ext cx="5878606" cy="979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Here are three real-world examples:</a:t>
            </a:r>
          </a:p>
        </p:txBody>
      </p:sp>
      <p:sp>
        <p:nvSpPr>
          <p:cNvPr id="3" name="Rectangle: Rounded Corners 2">
            <a:extLst>
              <a:ext uri="{FF2B5EF4-FFF2-40B4-BE49-F238E27FC236}">
                <a16:creationId xmlns:a16="http://schemas.microsoft.com/office/drawing/2014/main" id="{9125DAB7-8533-4FF0-B654-1FDF57A3241D}"/>
              </a:ext>
            </a:extLst>
          </p:cNvPr>
          <p:cNvSpPr/>
          <p:nvPr/>
        </p:nvSpPr>
        <p:spPr>
          <a:xfrm>
            <a:off x="3680011" y="1723470"/>
            <a:ext cx="7924801" cy="979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dirty="0">
                <a:solidFill>
                  <a:schemeClr val="tx1"/>
                </a:solidFill>
              </a:rPr>
              <a:t>Business email compromise-fraudulent supplier payments</a:t>
            </a:r>
          </a:p>
        </p:txBody>
      </p:sp>
      <p:sp>
        <p:nvSpPr>
          <p:cNvPr id="4" name="Rectangle: Rounded Corners 3">
            <a:extLst>
              <a:ext uri="{FF2B5EF4-FFF2-40B4-BE49-F238E27FC236}">
                <a16:creationId xmlns:a16="http://schemas.microsoft.com/office/drawing/2014/main" id="{2FFE624C-76A9-440B-B6D5-D34B3105E3CB}"/>
              </a:ext>
            </a:extLst>
          </p:cNvPr>
          <p:cNvSpPr/>
          <p:nvPr/>
        </p:nvSpPr>
        <p:spPr>
          <a:xfrm>
            <a:off x="3550023" y="2827252"/>
            <a:ext cx="4208929" cy="36004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In 2013-15, a criminal created a company with a name matching a legitimate hardware supplier and send emails to google and </a:t>
            </a:r>
            <a:r>
              <a:rPr lang="en-US" sz="2800" b="1" i="1" dirty="0" err="1">
                <a:solidFill>
                  <a:schemeClr val="tx1"/>
                </a:solidFill>
              </a:rPr>
              <a:t>facebook</a:t>
            </a:r>
            <a:r>
              <a:rPr lang="en-US" sz="2800" b="1" i="1" dirty="0">
                <a:solidFill>
                  <a:schemeClr val="tx1"/>
                </a:solidFill>
              </a:rPr>
              <a:t>, with fake bank accounts </a:t>
            </a:r>
            <a:r>
              <a:rPr lang="en-US" sz="2800" b="1" i="1" dirty="0" err="1">
                <a:solidFill>
                  <a:schemeClr val="tx1"/>
                </a:solidFill>
              </a:rPr>
              <a:t>ofcourse</a:t>
            </a:r>
            <a:r>
              <a:rPr lang="en-US" sz="2800" b="1" i="1" dirty="0">
                <a:solidFill>
                  <a:schemeClr val="tx1"/>
                </a:solidFill>
              </a:rPr>
              <a:t>.</a:t>
            </a:r>
          </a:p>
        </p:txBody>
      </p:sp>
      <p:sp>
        <p:nvSpPr>
          <p:cNvPr id="5" name="Rectangle: Rounded Corners 4">
            <a:extLst>
              <a:ext uri="{FF2B5EF4-FFF2-40B4-BE49-F238E27FC236}">
                <a16:creationId xmlns:a16="http://schemas.microsoft.com/office/drawing/2014/main" id="{F4DE57FF-182B-402C-AEC6-822C25E4E0E2}"/>
              </a:ext>
            </a:extLst>
          </p:cNvPr>
          <p:cNvSpPr/>
          <p:nvPr/>
        </p:nvSpPr>
        <p:spPr>
          <a:xfrm>
            <a:off x="8027895" y="2928105"/>
            <a:ext cx="3576917" cy="20798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1"/>
                </a:solidFill>
              </a:rPr>
              <a:t>Impact was more than $100 millions was fraudulently transferred.</a:t>
            </a:r>
          </a:p>
        </p:txBody>
      </p:sp>
      <p:pic>
        <p:nvPicPr>
          <p:cNvPr id="7" name="Picture 6">
            <a:extLst>
              <a:ext uri="{FF2B5EF4-FFF2-40B4-BE49-F238E27FC236}">
                <a16:creationId xmlns:a16="http://schemas.microsoft.com/office/drawing/2014/main" id="{DFFB26AB-4F82-4CC6-80AF-397F483DF3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3529" y="5284433"/>
            <a:ext cx="1117855" cy="1143261"/>
          </a:xfrm>
          <a:prstGeom prst="rect">
            <a:avLst/>
          </a:prstGeom>
        </p:spPr>
      </p:pic>
    </p:spTree>
    <p:extLst>
      <p:ext uri="{BB962C8B-B14F-4D97-AF65-F5344CB8AC3E}">
        <p14:creationId xmlns:p14="http://schemas.microsoft.com/office/powerpoint/2010/main" val="89113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AD5351-EDEF-4AF5-87BC-01EE76D13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883" y="416859"/>
            <a:ext cx="11214846" cy="5997388"/>
          </a:xfrm>
          <a:prstGeom prst="rect">
            <a:avLst/>
          </a:prstGeom>
          <a:ln>
            <a:noFill/>
          </a:ln>
          <a:effectLst>
            <a:softEdge rad="112500"/>
          </a:effectLst>
        </p:spPr>
      </p:pic>
    </p:spTree>
    <p:extLst>
      <p:ext uri="{BB962C8B-B14F-4D97-AF65-F5344CB8AC3E}">
        <p14:creationId xmlns:p14="http://schemas.microsoft.com/office/powerpoint/2010/main" val="189799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468</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3</cp:revision>
  <dcterms:created xsi:type="dcterms:W3CDTF">2026-10-28T14:48:18Z</dcterms:created>
  <dcterms:modified xsi:type="dcterms:W3CDTF">2026-10-29T07:30:22Z</dcterms:modified>
</cp:coreProperties>
</file>